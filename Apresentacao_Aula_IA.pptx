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4" r:id="rId2"/>
    <p:sldId id="267" r:id="rId3"/>
    <p:sldId id="256" r:id="rId4"/>
    <p:sldId id="257" r:id="rId5"/>
    <p:sldId id="258" r:id="rId6"/>
    <p:sldId id="259" r:id="rId7"/>
    <p:sldId id="260" r:id="rId8"/>
    <p:sldId id="261" r:id="rId9"/>
    <p:sldId id="262" r:id="rId10"/>
    <p:sldId id="263" r:id="rId11"/>
    <p:sldId id="265" r:id="rId12"/>
    <p:sldId id="266"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snapToObjects="1">
      <p:cViewPr varScale="1">
        <p:scale>
          <a:sx n="74" d="100"/>
          <a:sy n="74" d="100"/>
        </p:scale>
        <p:origin x="802" y="28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34CCDA-3ECE-44A6-A1C8-1956D0DB9753}"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768DD6AC-98D3-42D7-A6B1-1DBA6528F431}">
      <dgm:prSet/>
      <dgm:spPr/>
      <dgm:t>
        <a:bodyPr/>
        <a:lstStyle/>
        <a:p>
          <a:r>
            <a:rPr lang="en-US"/>
            <a:t>Estrutura fundamental das células eucarióticas</a:t>
          </a:r>
        </a:p>
      </dgm:t>
    </dgm:pt>
    <dgm:pt modelId="{D0BE3A3A-8B7C-4A81-AF75-227E1899C7EC}" type="parTrans" cxnId="{7B1D6C31-4B59-48C5-9900-0656B5C0A96A}">
      <dgm:prSet/>
      <dgm:spPr/>
      <dgm:t>
        <a:bodyPr/>
        <a:lstStyle/>
        <a:p>
          <a:endParaRPr lang="en-US"/>
        </a:p>
      </dgm:t>
    </dgm:pt>
    <dgm:pt modelId="{7580018F-71A6-4AFE-B8B2-7705D3ADB5F9}" type="sibTrans" cxnId="{7B1D6C31-4B59-48C5-9900-0656B5C0A96A}">
      <dgm:prSet/>
      <dgm:spPr/>
      <dgm:t>
        <a:bodyPr/>
        <a:lstStyle/>
        <a:p>
          <a:endParaRPr lang="en-US"/>
        </a:p>
      </dgm:t>
    </dgm:pt>
    <dgm:pt modelId="{C709129A-7515-4518-ACB2-064E26914579}">
      <dgm:prSet/>
      <dgm:spPr/>
      <dgm:t>
        <a:bodyPr/>
        <a:lstStyle/>
        <a:p>
          <a:r>
            <a:rPr lang="en-US"/>
            <a:t>Armazena e controla a informação genética</a:t>
          </a:r>
        </a:p>
      </dgm:t>
    </dgm:pt>
    <dgm:pt modelId="{B49ED364-741E-4BB4-90B5-20B892253ACE}" type="parTrans" cxnId="{23892476-13F0-4712-A7CD-F4F2561153C7}">
      <dgm:prSet/>
      <dgm:spPr/>
      <dgm:t>
        <a:bodyPr/>
        <a:lstStyle/>
        <a:p>
          <a:endParaRPr lang="en-US"/>
        </a:p>
      </dgm:t>
    </dgm:pt>
    <dgm:pt modelId="{C61732D1-0E31-4312-B806-3D9A6C49AF1C}" type="sibTrans" cxnId="{23892476-13F0-4712-A7CD-F4F2561153C7}">
      <dgm:prSet/>
      <dgm:spPr/>
      <dgm:t>
        <a:bodyPr/>
        <a:lstStyle/>
        <a:p>
          <a:endParaRPr lang="en-US"/>
        </a:p>
      </dgm:t>
    </dgm:pt>
    <dgm:pt modelId="{3144D907-8B73-4263-8937-677AE12D24B9}" type="pres">
      <dgm:prSet presAssocID="{9934CCDA-3ECE-44A6-A1C8-1956D0DB9753}" presName="hierChild1" presStyleCnt="0">
        <dgm:presLayoutVars>
          <dgm:chPref val="1"/>
          <dgm:dir/>
          <dgm:animOne val="branch"/>
          <dgm:animLvl val="lvl"/>
          <dgm:resizeHandles/>
        </dgm:presLayoutVars>
      </dgm:prSet>
      <dgm:spPr/>
    </dgm:pt>
    <dgm:pt modelId="{89DC3C6D-F34E-434F-9FF5-699881342AFB}" type="pres">
      <dgm:prSet presAssocID="{768DD6AC-98D3-42D7-A6B1-1DBA6528F431}" presName="hierRoot1" presStyleCnt="0"/>
      <dgm:spPr/>
    </dgm:pt>
    <dgm:pt modelId="{F61983D5-12E1-41C7-A643-CC42AA11D28B}" type="pres">
      <dgm:prSet presAssocID="{768DD6AC-98D3-42D7-A6B1-1DBA6528F431}" presName="composite" presStyleCnt="0"/>
      <dgm:spPr/>
    </dgm:pt>
    <dgm:pt modelId="{77F990DE-9C30-44F0-8C25-E3DD703B2350}" type="pres">
      <dgm:prSet presAssocID="{768DD6AC-98D3-42D7-A6B1-1DBA6528F431}" presName="background" presStyleLbl="node0" presStyleIdx="0" presStyleCnt="2"/>
      <dgm:spPr/>
    </dgm:pt>
    <dgm:pt modelId="{5260D493-6B72-4F57-9DE3-4454B03D1E77}" type="pres">
      <dgm:prSet presAssocID="{768DD6AC-98D3-42D7-A6B1-1DBA6528F431}" presName="text" presStyleLbl="fgAcc0" presStyleIdx="0" presStyleCnt="2">
        <dgm:presLayoutVars>
          <dgm:chPref val="3"/>
        </dgm:presLayoutVars>
      </dgm:prSet>
      <dgm:spPr/>
    </dgm:pt>
    <dgm:pt modelId="{DE4FC630-BB8F-4F36-9D50-852753082B45}" type="pres">
      <dgm:prSet presAssocID="{768DD6AC-98D3-42D7-A6B1-1DBA6528F431}" presName="hierChild2" presStyleCnt="0"/>
      <dgm:spPr/>
    </dgm:pt>
    <dgm:pt modelId="{C76F8279-26E6-40FB-BB91-8DD2BE9F888F}" type="pres">
      <dgm:prSet presAssocID="{C709129A-7515-4518-ACB2-064E26914579}" presName="hierRoot1" presStyleCnt="0"/>
      <dgm:spPr/>
    </dgm:pt>
    <dgm:pt modelId="{75BB0BC3-0A22-4DCB-80E7-7545304699C5}" type="pres">
      <dgm:prSet presAssocID="{C709129A-7515-4518-ACB2-064E26914579}" presName="composite" presStyleCnt="0"/>
      <dgm:spPr/>
    </dgm:pt>
    <dgm:pt modelId="{6258FBD6-16CF-49FB-8006-1619986101BE}" type="pres">
      <dgm:prSet presAssocID="{C709129A-7515-4518-ACB2-064E26914579}" presName="background" presStyleLbl="node0" presStyleIdx="1" presStyleCnt="2"/>
      <dgm:spPr/>
    </dgm:pt>
    <dgm:pt modelId="{AF916CE1-8B98-415C-8F08-8C7F786A245F}" type="pres">
      <dgm:prSet presAssocID="{C709129A-7515-4518-ACB2-064E26914579}" presName="text" presStyleLbl="fgAcc0" presStyleIdx="1" presStyleCnt="2">
        <dgm:presLayoutVars>
          <dgm:chPref val="3"/>
        </dgm:presLayoutVars>
      </dgm:prSet>
      <dgm:spPr/>
    </dgm:pt>
    <dgm:pt modelId="{1DB504F8-06FB-4AE8-A3B2-55DE5F4FF088}" type="pres">
      <dgm:prSet presAssocID="{C709129A-7515-4518-ACB2-064E26914579}" presName="hierChild2" presStyleCnt="0"/>
      <dgm:spPr/>
    </dgm:pt>
  </dgm:ptLst>
  <dgm:cxnLst>
    <dgm:cxn modelId="{7B1D6C31-4B59-48C5-9900-0656B5C0A96A}" srcId="{9934CCDA-3ECE-44A6-A1C8-1956D0DB9753}" destId="{768DD6AC-98D3-42D7-A6B1-1DBA6528F431}" srcOrd="0" destOrd="0" parTransId="{D0BE3A3A-8B7C-4A81-AF75-227E1899C7EC}" sibTransId="{7580018F-71A6-4AFE-B8B2-7705D3ADB5F9}"/>
    <dgm:cxn modelId="{83C4C854-A31E-4A47-B950-C08B746ECC22}" type="presOf" srcId="{C709129A-7515-4518-ACB2-064E26914579}" destId="{AF916CE1-8B98-415C-8F08-8C7F786A245F}" srcOrd="0" destOrd="0" presId="urn:microsoft.com/office/officeart/2005/8/layout/hierarchy1"/>
    <dgm:cxn modelId="{23892476-13F0-4712-A7CD-F4F2561153C7}" srcId="{9934CCDA-3ECE-44A6-A1C8-1956D0DB9753}" destId="{C709129A-7515-4518-ACB2-064E26914579}" srcOrd="1" destOrd="0" parTransId="{B49ED364-741E-4BB4-90B5-20B892253ACE}" sibTransId="{C61732D1-0E31-4312-B806-3D9A6C49AF1C}"/>
    <dgm:cxn modelId="{5735E1E3-1E1C-4BD8-AB65-0DE6C904A4E3}" type="presOf" srcId="{9934CCDA-3ECE-44A6-A1C8-1956D0DB9753}" destId="{3144D907-8B73-4263-8937-677AE12D24B9}" srcOrd="0" destOrd="0" presId="urn:microsoft.com/office/officeart/2005/8/layout/hierarchy1"/>
    <dgm:cxn modelId="{8F5FE3E5-C000-4224-B4F4-2E6E8CF67805}" type="presOf" srcId="{768DD6AC-98D3-42D7-A6B1-1DBA6528F431}" destId="{5260D493-6B72-4F57-9DE3-4454B03D1E77}" srcOrd="0" destOrd="0" presId="urn:microsoft.com/office/officeart/2005/8/layout/hierarchy1"/>
    <dgm:cxn modelId="{CF298516-BB4B-4D61-85CD-5D2CEB709118}" type="presParOf" srcId="{3144D907-8B73-4263-8937-677AE12D24B9}" destId="{89DC3C6D-F34E-434F-9FF5-699881342AFB}" srcOrd="0" destOrd="0" presId="urn:microsoft.com/office/officeart/2005/8/layout/hierarchy1"/>
    <dgm:cxn modelId="{C324A267-2D84-43C2-8FB0-3321347857A8}" type="presParOf" srcId="{89DC3C6D-F34E-434F-9FF5-699881342AFB}" destId="{F61983D5-12E1-41C7-A643-CC42AA11D28B}" srcOrd="0" destOrd="0" presId="urn:microsoft.com/office/officeart/2005/8/layout/hierarchy1"/>
    <dgm:cxn modelId="{A066A6AB-C899-4979-A804-EF15A575B5CE}" type="presParOf" srcId="{F61983D5-12E1-41C7-A643-CC42AA11D28B}" destId="{77F990DE-9C30-44F0-8C25-E3DD703B2350}" srcOrd="0" destOrd="0" presId="urn:microsoft.com/office/officeart/2005/8/layout/hierarchy1"/>
    <dgm:cxn modelId="{F40B0EA4-9511-424D-8230-9A4E116D1CD1}" type="presParOf" srcId="{F61983D5-12E1-41C7-A643-CC42AA11D28B}" destId="{5260D493-6B72-4F57-9DE3-4454B03D1E77}" srcOrd="1" destOrd="0" presId="urn:microsoft.com/office/officeart/2005/8/layout/hierarchy1"/>
    <dgm:cxn modelId="{B49D8F96-257C-4B73-AB63-F917071D00DD}" type="presParOf" srcId="{89DC3C6D-F34E-434F-9FF5-699881342AFB}" destId="{DE4FC630-BB8F-4F36-9D50-852753082B45}" srcOrd="1" destOrd="0" presId="urn:microsoft.com/office/officeart/2005/8/layout/hierarchy1"/>
    <dgm:cxn modelId="{B84BDB1E-4B37-474A-858C-08E689427713}" type="presParOf" srcId="{3144D907-8B73-4263-8937-677AE12D24B9}" destId="{C76F8279-26E6-40FB-BB91-8DD2BE9F888F}" srcOrd="1" destOrd="0" presId="urn:microsoft.com/office/officeart/2005/8/layout/hierarchy1"/>
    <dgm:cxn modelId="{5EDF8589-330C-440F-AB9E-FC34E05ECB32}" type="presParOf" srcId="{C76F8279-26E6-40FB-BB91-8DD2BE9F888F}" destId="{75BB0BC3-0A22-4DCB-80E7-7545304699C5}" srcOrd="0" destOrd="0" presId="urn:microsoft.com/office/officeart/2005/8/layout/hierarchy1"/>
    <dgm:cxn modelId="{5E1B3207-B22B-4358-804C-BB791AB78FFE}" type="presParOf" srcId="{75BB0BC3-0A22-4DCB-80E7-7545304699C5}" destId="{6258FBD6-16CF-49FB-8006-1619986101BE}" srcOrd="0" destOrd="0" presId="urn:microsoft.com/office/officeart/2005/8/layout/hierarchy1"/>
    <dgm:cxn modelId="{47F17CA6-B78D-4547-9E3A-4556BB980295}" type="presParOf" srcId="{75BB0BC3-0A22-4DCB-80E7-7545304699C5}" destId="{AF916CE1-8B98-415C-8F08-8C7F786A245F}" srcOrd="1" destOrd="0" presId="urn:microsoft.com/office/officeart/2005/8/layout/hierarchy1"/>
    <dgm:cxn modelId="{A131982F-4A1C-47B4-8BF4-4F5CEDC6EB12}" type="presParOf" srcId="{C76F8279-26E6-40FB-BB91-8DD2BE9F888F}" destId="{1DB504F8-06FB-4AE8-A3B2-55DE5F4FF08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990DE-9C30-44F0-8C25-E3DD703B2350}">
      <dsp:nvSpPr>
        <dsp:cNvPr id="0" name=""/>
        <dsp:cNvSpPr/>
      </dsp:nvSpPr>
      <dsp:spPr>
        <a:xfrm>
          <a:off x="1004" y="957341"/>
          <a:ext cx="3526110" cy="22390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60D493-6B72-4F57-9DE3-4454B03D1E77}">
      <dsp:nvSpPr>
        <dsp:cNvPr id="0" name=""/>
        <dsp:cNvSpPr/>
      </dsp:nvSpPr>
      <dsp:spPr>
        <a:xfrm>
          <a:off x="392794" y="1329541"/>
          <a:ext cx="3526110" cy="22390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Estrutura fundamental das células eucarióticas</a:t>
          </a:r>
        </a:p>
      </dsp:txBody>
      <dsp:txXfrm>
        <a:off x="458374" y="1395121"/>
        <a:ext cx="3394950" cy="2107920"/>
      </dsp:txXfrm>
    </dsp:sp>
    <dsp:sp modelId="{6258FBD6-16CF-49FB-8006-1619986101BE}">
      <dsp:nvSpPr>
        <dsp:cNvPr id="0" name=""/>
        <dsp:cNvSpPr/>
      </dsp:nvSpPr>
      <dsp:spPr>
        <a:xfrm>
          <a:off x="4310695" y="957341"/>
          <a:ext cx="3526110" cy="22390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916CE1-8B98-415C-8F08-8C7F786A245F}">
      <dsp:nvSpPr>
        <dsp:cNvPr id="0" name=""/>
        <dsp:cNvSpPr/>
      </dsp:nvSpPr>
      <dsp:spPr>
        <a:xfrm>
          <a:off x="4702485" y="1329541"/>
          <a:ext cx="3526110" cy="22390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Armazena e controla a informação genética</a:t>
          </a:r>
        </a:p>
      </dsp:txBody>
      <dsp:txXfrm>
        <a:off x="4768065" y="1395121"/>
        <a:ext cx="3394950" cy="210792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CF2434-30DD-4E4B-9122-DA8F771F8523}" type="datetimeFigureOut">
              <a:rPr lang="pt-BR" smtClean="0"/>
              <a:t>31/12/2025</a:t>
            </a:fld>
            <a:endParaRPr lang="pt-B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66BF29-3D5A-493D-AF46-1C6DC3347DC0}" type="slidenum">
              <a:rPr lang="pt-BR" smtClean="0"/>
              <a:t>‹#›</a:t>
            </a:fld>
            <a:endParaRPr lang="pt-BR"/>
          </a:p>
        </p:txBody>
      </p:sp>
    </p:spTree>
    <p:extLst>
      <p:ext uri="{BB962C8B-B14F-4D97-AF65-F5344CB8AC3E}">
        <p14:creationId xmlns:p14="http://schemas.microsoft.com/office/powerpoint/2010/main" val="205401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4466BF29-3D5A-493D-AF46-1C6DC3347DC0}" type="slidenum">
              <a:rPr lang="pt-BR" smtClean="0"/>
              <a:t>7</a:t>
            </a:fld>
            <a:endParaRPr lang="pt-BR"/>
          </a:p>
        </p:txBody>
      </p:sp>
    </p:spTree>
    <p:extLst>
      <p:ext uri="{BB962C8B-B14F-4D97-AF65-F5344CB8AC3E}">
        <p14:creationId xmlns:p14="http://schemas.microsoft.com/office/powerpoint/2010/main" val="4192520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A6F576-92B5-64A7-D3F1-9038D9F27102}"/>
              </a:ext>
            </a:extLst>
          </p:cNvPr>
          <p:cNvSpPr>
            <a:spLocks noGrp="1"/>
          </p:cNvSpPr>
          <p:nvPr>
            <p:ph type="title"/>
          </p:nvPr>
        </p:nvSpPr>
        <p:spPr>
          <a:xfrm>
            <a:off x="835357" y="2960716"/>
            <a:ext cx="3027251" cy="2387600"/>
          </a:xfrm>
        </p:spPr>
        <p:txBody>
          <a:bodyPr vert="horz" lIns="91440" tIns="45720" rIns="91440" bIns="45720" rtlCol="0" anchor="t">
            <a:normAutofit/>
          </a:bodyPr>
          <a:lstStyle/>
          <a:p>
            <a:pPr algn="l" defTabSz="914400">
              <a:lnSpc>
                <a:spcPct val="90000"/>
              </a:lnSpc>
            </a:pPr>
            <a:r>
              <a:rPr lang="en-US" sz="4700" kern="1200" dirty="0" err="1">
                <a:solidFill>
                  <a:schemeClr val="tx1"/>
                </a:solidFill>
                <a:latin typeface="+mj-lt"/>
                <a:ea typeface="+mj-ea"/>
                <a:cs typeface="+mj-cs"/>
              </a:rPr>
              <a:t>Núcleo</a:t>
            </a:r>
            <a:r>
              <a:rPr lang="en-US" sz="4700" kern="1200" dirty="0">
                <a:solidFill>
                  <a:schemeClr val="tx1"/>
                </a:solidFill>
                <a:latin typeface="+mj-lt"/>
                <a:ea typeface="+mj-ea"/>
                <a:cs typeface="+mj-cs"/>
              </a:rPr>
              <a:t> e </a:t>
            </a:r>
            <a:r>
              <a:rPr lang="en-US" sz="4700" kern="1200" dirty="0" err="1">
                <a:solidFill>
                  <a:schemeClr val="tx1"/>
                </a:solidFill>
                <a:latin typeface="+mj-lt"/>
                <a:ea typeface="+mj-ea"/>
                <a:cs typeface="+mj-cs"/>
              </a:rPr>
              <a:t>nucléolo</a:t>
            </a:r>
            <a:endParaRPr lang="en-US" sz="4700" kern="1200" dirty="0">
              <a:solidFill>
                <a:schemeClr val="tx1"/>
              </a:solidFill>
              <a:latin typeface="+mj-lt"/>
              <a:ea typeface="+mj-ea"/>
              <a:cs typeface="+mj-cs"/>
            </a:endParaRPr>
          </a:p>
        </p:txBody>
      </p:sp>
      <p:sp>
        <p:nvSpPr>
          <p:cNvPr id="6" name="TextBox 5">
            <a:extLst>
              <a:ext uri="{FF2B5EF4-FFF2-40B4-BE49-F238E27FC236}">
                <a16:creationId xmlns:a16="http://schemas.microsoft.com/office/drawing/2014/main" id="{C8C263DD-015B-0DD9-297E-378A52F61BCF}"/>
              </a:ext>
            </a:extLst>
          </p:cNvPr>
          <p:cNvSpPr txBox="1"/>
          <p:nvPr/>
        </p:nvSpPr>
        <p:spPr>
          <a:xfrm>
            <a:off x="6403469" y="5096981"/>
            <a:ext cx="3027250" cy="1709849"/>
          </a:xfrm>
          <a:prstGeom prst="rect">
            <a:avLst/>
          </a:prstGeom>
        </p:spPr>
        <p:txBody>
          <a:bodyPr vert="horz" lIns="91440" tIns="45720" rIns="91440" bIns="45720" rtlCol="0" anchor="b">
            <a:normAutofit/>
          </a:bodyPr>
          <a:lstStyle/>
          <a:p>
            <a:pPr defTabSz="914400">
              <a:lnSpc>
                <a:spcPct val="90000"/>
              </a:lnSpc>
              <a:spcBef>
                <a:spcPts val="1000"/>
              </a:spcBef>
              <a:spcAft>
                <a:spcPts val="600"/>
              </a:spcAft>
            </a:pPr>
            <a:r>
              <a:rPr lang="en-US" sz="1700" kern="1200" dirty="0">
                <a:solidFill>
                  <a:schemeClr val="tx1"/>
                </a:solidFill>
                <a:latin typeface="+mn-lt"/>
                <a:ea typeface="+mn-ea"/>
                <a:cs typeface="+mn-cs"/>
              </a:rPr>
              <a:t>Editora </a:t>
            </a:r>
            <a:r>
              <a:rPr lang="en-US" sz="1700" kern="1200" dirty="0" err="1">
                <a:solidFill>
                  <a:schemeClr val="tx1"/>
                </a:solidFill>
                <a:latin typeface="+mn-lt"/>
                <a:ea typeface="+mn-ea"/>
                <a:cs typeface="+mn-cs"/>
              </a:rPr>
              <a:t>Opirus</a:t>
            </a:r>
            <a:endParaRPr lang="en-US" sz="1700" kern="1200" dirty="0">
              <a:solidFill>
                <a:schemeClr val="tx1"/>
              </a:solidFill>
              <a:latin typeface="+mn-lt"/>
              <a:ea typeface="+mn-ea"/>
              <a:cs typeface="+mn-cs"/>
            </a:endParaRPr>
          </a:p>
        </p:txBody>
      </p:sp>
      <p:grpSp>
        <p:nvGrpSpPr>
          <p:cNvPr id="1033" name="Group 103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984992"/>
            <a:ext cx="548639" cy="673460"/>
            <a:chOff x="3940602" y="308034"/>
            <a:chExt cx="2116791" cy="3428999"/>
          </a:xfrm>
          <a:solidFill>
            <a:schemeClr val="accent4"/>
          </a:solidFill>
        </p:grpSpPr>
        <p:sp>
          <p:nvSpPr>
            <p:cNvPr id="1034" name="Rectangle 103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8" name="Rectangle 103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391886"/>
            <a:ext cx="4507025"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iagram of a eukaryotic cell nucleus showing labeled components including nucleolus, nuclear pores, ribosomes, outer and inner nuclear membranes, perinuclear space, and fibrous lamina. The diagram uses blue shading for membranes and black lines for chromatin, illustrating structural organization and key elements involved in nuclear function.&#10;&#10;AI-generated content may be incorrect.">
            <a:extLst>
              <a:ext uri="{FF2B5EF4-FFF2-40B4-BE49-F238E27FC236}">
                <a16:creationId xmlns:a16="http://schemas.microsoft.com/office/drawing/2014/main" id="{1DF15B7E-64C0-7EC8-C2EE-42066979A4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441869" y="1894523"/>
            <a:ext cx="4152000" cy="30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038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0ABDD5-292B-8502-DA01-304470BCCDF5}"/>
              </a:ext>
            </a:extLst>
          </p:cNvPr>
          <p:cNvSpPr>
            <a:spLocks noGrp="1"/>
          </p:cNvSpPr>
          <p:nvPr>
            <p:ph type="title"/>
          </p:nvPr>
        </p:nvSpPr>
        <p:spPr>
          <a:xfrm>
            <a:off x="606478" y="386930"/>
            <a:ext cx="6927525" cy="1188950"/>
          </a:xfrm>
        </p:spPr>
        <p:txBody>
          <a:bodyPr anchor="b">
            <a:normAutofit/>
          </a:bodyPr>
          <a:lstStyle/>
          <a:p>
            <a:r>
              <a:rPr lang="pt-BR" sz="4700" dirty="0"/>
              <a:t>Objetivos de aprendizagem</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F6DC961F-13D7-D03F-547F-2563E14FA7D0}"/>
              </a:ext>
            </a:extLst>
          </p:cNvPr>
          <p:cNvSpPr>
            <a:spLocks noGrp="1"/>
          </p:cNvSpPr>
          <p:nvPr>
            <p:ph idx="1"/>
          </p:nvPr>
        </p:nvSpPr>
        <p:spPr>
          <a:xfrm>
            <a:off x="595245" y="2599509"/>
            <a:ext cx="7607751" cy="3435531"/>
          </a:xfrm>
        </p:spPr>
        <p:txBody>
          <a:bodyPr anchor="ctr">
            <a:normAutofit/>
          </a:bodyPr>
          <a:lstStyle/>
          <a:p>
            <a:r>
              <a:rPr lang="pt-BR" sz="2100"/>
              <a:t>Entender a estrutura e função do núcleo celular.</a:t>
            </a:r>
          </a:p>
          <a:p>
            <a:r>
              <a:rPr lang="pt-BR" sz="2100"/>
              <a:t>Reconhecer mecanismos de transporte nuclear.</a:t>
            </a:r>
          </a:p>
          <a:p>
            <a:r>
              <a:rPr lang="pt-BR" sz="2100"/>
              <a:t>Explicar a organização e compactação do DNA.</a:t>
            </a:r>
          </a:p>
          <a:p>
            <a:r>
              <a:rPr lang="pt-BR" sz="2100"/>
              <a:t>Identificar as etapas do ciclo celular, mitose e meiose.</a:t>
            </a:r>
          </a:p>
          <a:p>
            <a:r>
              <a:rPr lang="pt-BR" sz="2100"/>
              <a:t>Descrever transcrição e processamento de RNA.</a:t>
            </a:r>
          </a:p>
        </p:txBody>
      </p:sp>
    </p:spTree>
    <p:extLst>
      <p:ext uri="{BB962C8B-B14F-4D97-AF65-F5344CB8AC3E}">
        <p14:creationId xmlns:p14="http://schemas.microsoft.com/office/powerpoint/2010/main" val="394865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Núcleo Celular</a:t>
            </a:r>
          </a:p>
        </p:txBody>
      </p:sp>
      <p:graphicFrame>
        <p:nvGraphicFramePr>
          <p:cNvPr id="26" name="Content Placeholder 2">
            <a:extLst>
              <a:ext uri="{FF2B5EF4-FFF2-40B4-BE49-F238E27FC236}">
                <a16:creationId xmlns:a16="http://schemas.microsoft.com/office/drawing/2014/main" id="{991E6415-B2F1-B404-A962-72788867D096}"/>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pt-BR" sz="4200"/>
              <a:t>Envoltório Nuclear</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a:bodyPr>
          <a:lstStyle/>
          <a:p>
            <a:r>
              <a:rPr lang="it-IT" sz="2400" dirty="0"/>
              <a:t>Dupla membrana</a:t>
            </a:r>
          </a:p>
          <a:p>
            <a:r>
              <a:rPr lang="it-IT" sz="2400" dirty="0"/>
              <a:t>Poros nucleares</a:t>
            </a:r>
          </a:p>
          <a:p>
            <a:r>
              <a:rPr lang="it-IT" sz="2400" dirty="0"/>
              <a:t>Lâmina nuclear</a:t>
            </a:r>
          </a:p>
        </p:txBody>
      </p:sp>
      <p:pic>
        <p:nvPicPr>
          <p:cNvPr id="4" name="Picture 2">
            <a:extLst>
              <a:ext uri="{FF2B5EF4-FFF2-40B4-BE49-F238E27FC236}">
                <a16:creationId xmlns:a16="http://schemas.microsoft.com/office/drawing/2014/main" id="{9EAA6DF2-2F23-2D9C-820A-3C6CCB876FE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33649" y="2941146"/>
            <a:ext cx="3862707" cy="280046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5CFCA9-7533-B3F4-8E01-23D065A7E9B2}"/>
              </a:ext>
            </a:extLst>
          </p:cNvPr>
          <p:cNvSpPr txBox="1"/>
          <p:nvPr/>
        </p:nvSpPr>
        <p:spPr>
          <a:xfrm>
            <a:off x="5965371" y="6333741"/>
            <a:ext cx="2631901" cy="371424"/>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Editora Opirus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3" name="Rectangle 206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pt-BR" sz="4200" dirty="0"/>
              <a:t>Transporte Nuclear</a:t>
            </a:r>
          </a:p>
        </p:txBody>
      </p:sp>
      <p:sp>
        <p:nvSpPr>
          <p:cNvPr id="2064" name="Rectangle 206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a:extLst>
              <a:ext uri="{FF2B5EF4-FFF2-40B4-BE49-F238E27FC236}">
                <a16:creationId xmlns:a16="http://schemas.microsoft.com/office/drawing/2014/main" id="{0EED7916-5A73-803D-299A-E5653AAC9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344" y="2416628"/>
            <a:ext cx="5921971" cy="399733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70F89AC-F5CD-901C-EE05-C27117660A5C}"/>
              </a:ext>
            </a:extLst>
          </p:cNvPr>
          <p:cNvSpPr txBox="1"/>
          <p:nvPr/>
        </p:nvSpPr>
        <p:spPr>
          <a:xfrm>
            <a:off x="4734565" y="6333741"/>
            <a:ext cx="3862707" cy="371424"/>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https://mbiocel.wordpress.com/</a:t>
            </a:r>
          </a:p>
        </p:txBody>
      </p:sp>
      <p:sp>
        <p:nvSpPr>
          <p:cNvPr id="3" name="Content Placeholder 2"/>
          <p:cNvSpPr>
            <a:spLocks noGrp="1"/>
          </p:cNvSpPr>
          <p:nvPr>
            <p:ph idx="1"/>
          </p:nvPr>
        </p:nvSpPr>
        <p:spPr>
          <a:xfrm>
            <a:off x="94503" y="2555966"/>
            <a:ext cx="2714012" cy="3639450"/>
          </a:xfrm>
        </p:spPr>
        <p:txBody>
          <a:bodyPr anchor="ctr">
            <a:normAutofit/>
          </a:bodyPr>
          <a:lstStyle/>
          <a:p>
            <a:r>
              <a:rPr lang="pt-BR" sz="1700" dirty="0"/>
              <a:t>Importinas e exportinas</a:t>
            </a:r>
          </a:p>
          <a:p>
            <a:r>
              <a:rPr lang="pt-BR" sz="1700" dirty="0"/>
              <a:t>Sinais NLS e NES</a:t>
            </a:r>
          </a:p>
          <a:p>
            <a:r>
              <a:rPr lang="pt-BR" sz="1700" dirty="0"/>
              <a:t>Ciclo Ran-GTP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pt-BR" sz="4200"/>
              <a:t>Cromatina</a:t>
            </a:r>
          </a:p>
        </p:txBody>
      </p:sp>
      <p:sp>
        <p:nvSpPr>
          <p:cNvPr id="4105" name="Rectangle 410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0" y="2597171"/>
            <a:ext cx="3398174" cy="3639450"/>
          </a:xfrm>
        </p:spPr>
        <p:txBody>
          <a:bodyPr anchor="ctr">
            <a:normAutofit/>
          </a:bodyPr>
          <a:lstStyle/>
          <a:p>
            <a:r>
              <a:rPr lang="pt-BR" sz="1700" dirty="0"/>
              <a:t>DNA + histonas</a:t>
            </a:r>
          </a:p>
          <a:p>
            <a:r>
              <a:rPr lang="pt-BR" sz="1700" dirty="0"/>
              <a:t>Eucromatina e heterocromatina</a:t>
            </a:r>
          </a:p>
          <a:p>
            <a:r>
              <a:rPr lang="pt-BR" sz="1700" dirty="0"/>
              <a:t>Níveis de compactação</a:t>
            </a:r>
          </a:p>
        </p:txBody>
      </p:sp>
      <p:sp>
        <p:nvSpPr>
          <p:cNvPr id="4109" name="Rectangle 410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F2C85D2-D616-E4BD-5FD1-C7F7268D6EE3}"/>
              </a:ext>
            </a:extLst>
          </p:cNvPr>
          <p:cNvSpPr txBox="1"/>
          <p:nvPr/>
        </p:nvSpPr>
        <p:spPr>
          <a:xfrm>
            <a:off x="3215289" y="5982421"/>
            <a:ext cx="5348943" cy="371424"/>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https://www.sobiologia.com.br/conteudos/Citologia2/nucleo2.php</a:t>
            </a:r>
          </a:p>
        </p:txBody>
      </p:sp>
      <p:pic>
        <p:nvPicPr>
          <p:cNvPr id="4098" name="Picture 2">
            <a:extLst>
              <a:ext uri="{FF2B5EF4-FFF2-40B4-BE49-F238E27FC236}">
                <a16:creationId xmlns:a16="http://schemas.microsoft.com/office/drawing/2014/main" id="{6F359383-FD5C-5DC9-3F46-C63EEE84FF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359"/>
          <a:stretch>
            <a:fillRect/>
          </a:stretch>
        </p:blipFill>
        <p:spPr bwMode="auto">
          <a:xfrm>
            <a:off x="3398174" y="2795416"/>
            <a:ext cx="5031259" cy="30697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pt-BR" sz="4200"/>
              <a:t>Nucléolo</a:t>
            </a:r>
          </a:p>
        </p:txBody>
      </p:sp>
      <p:sp>
        <p:nvSpPr>
          <p:cNvPr id="30" name="Rectangle 2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0074" y="2389218"/>
            <a:ext cx="2213269" cy="3108068"/>
          </a:xfrm>
        </p:spPr>
        <p:txBody>
          <a:bodyPr anchor="ctr">
            <a:normAutofit/>
          </a:bodyPr>
          <a:lstStyle/>
          <a:p>
            <a:r>
              <a:rPr lang="pt-BR" sz="1700" dirty="0"/>
              <a:t>Síntese de rRNA</a:t>
            </a:r>
          </a:p>
          <a:p>
            <a:r>
              <a:rPr lang="pt-BR" sz="1700" dirty="0"/>
              <a:t>Montagem de subunidades ribossomais</a:t>
            </a:r>
          </a:p>
        </p:txBody>
      </p:sp>
      <p:pic>
        <p:nvPicPr>
          <p:cNvPr id="5" name="Picture 4">
            <a:extLst>
              <a:ext uri="{FF2B5EF4-FFF2-40B4-BE49-F238E27FC236}">
                <a16:creationId xmlns:a16="http://schemas.microsoft.com/office/drawing/2014/main" id="{E9858B6C-A93B-2443-8AA9-BAED504CF6A7}"/>
              </a:ext>
            </a:extLst>
          </p:cNvPr>
          <p:cNvPicPr>
            <a:picLocks noChangeAspect="1"/>
          </p:cNvPicPr>
          <p:nvPr/>
        </p:nvPicPr>
        <p:blipFill>
          <a:blip r:embed="rId3"/>
          <a:stretch>
            <a:fillRect/>
          </a:stretch>
        </p:blipFill>
        <p:spPr>
          <a:xfrm>
            <a:off x="3623364" y="2367398"/>
            <a:ext cx="4891353" cy="3521773"/>
          </a:xfrm>
          <a:prstGeom prst="rect">
            <a:avLst/>
          </a:prstGeom>
        </p:spPr>
      </p:pic>
      <p:sp>
        <p:nvSpPr>
          <p:cNvPr id="32" name="Rectangle 3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5E01CF1-C0C4-B927-7AD8-2D5768707CD2}"/>
              </a:ext>
            </a:extLst>
          </p:cNvPr>
          <p:cNvSpPr txBox="1"/>
          <p:nvPr/>
        </p:nvSpPr>
        <p:spPr>
          <a:xfrm>
            <a:off x="4049486" y="6022343"/>
            <a:ext cx="4286146" cy="371424"/>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https://i.ytimg.com/vi/jkj1qeVqaE0/maxresdefault.jpg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2" name="Rectangle 6161">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pt-BR" sz="4200"/>
              <a:t>Ciclo Celular</a:t>
            </a:r>
          </a:p>
        </p:txBody>
      </p:sp>
      <p:sp>
        <p:nvSpPr>
          <p:cNvPr id="6164" name="Rectangle 616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6" name="Rectangle 616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a:bodyPr>
          <a:lstStyle/>
          <a:p>
            <a:r>
              <a:rPr lang="pt-BR" sz="1700" dirty="0"/>
              <a:t>Interfase: G1, S, G2</a:t>
            </a:r>
          </a:p>
          <a:p>
            <a:pPr marL="0" indent="0">
              <a:buNone/>
            </a:pPr>
            <a:endParaRPr lang="pt-BR" sz="1700" dirty="0"/>
          </a:p>
        </p:txBody>
      </p:sp>
      <p:sp>
        <p:nvSpPr>
          <p:cNvPr id="6168" name="Rectangle 616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0" name="Picture 6" descr="Ciclo celular: o que é, etapas, controle, resumo - Biologia Net">
            <a:extLst>
              <a:ext uri="{FF2B5EF4-FFF2-40B4-BE49-F238E27FC236}">
                <a16:creationId xmlns:a16="http://schemas.microsoft.com/office/drawing/2014/main" id="{CFA4110C-F2F3-D815-3342-7B91FDD66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8490" y="2599509"/>
            <a:ext cx="5625738" cy="347472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892BE0E-4058-1EFB-C86D-E3F3652CF95F}"/>
              </a:ext>
            </a:extLst>
          </p:cNvPr>
          <p:cNvSpPr txBox="1"/>
          <p:nvPr/>
        </p:nvSpPr>
        <p:spPr>
          <a:xfrm>
            <a:off x="3933188" y="6087658"/>
            <a:ext cx="4499269" cy="371424"/>
          </a:xfrm>
          <a:prstGeom prst="rect">
            <a:avLst/>
          </a:prstGeom>
          <a:solidFill>
            <a:srgbClr val="000000">
              <a:alpha val="50000"/>
            </a:srgbClr>
          </a:solidFill>
          <a:ln>
            <a:noFill/>
          </a:ln>
        </p:spPr>
        <p:txBody>
          <a:bodyPr wrap="square">
            <a:noAutofit/>
          </a:bodyPr>
          <a:lstStyle/>
          <a:p>
            <a:pPr algn="ctr">
              <a:spcAft>
                <a:spcPts val="600"/>
              </a:spcAft>
            </a:pPr>
            <a:r>
              <a:rPr lang="pt-BR" sz="1300">
                <a:solidFill>
                  <a:srgbClr val="FFFFFF"/>
                </a:solidFill>
              </a:rPr>
              <a:t>https://www.biologianet.com/biologia-celular/ciclo-celular.htm</a:t>
            </a:r>
            <a:endParaRPr lang="pt-BR" sz="1300" dirty="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pt-BR" sz="4200"/>
              <a:t>Mitose</a:t>
            </a:r>
          </a:p>
        </p:txBody>
      </p:sp>
      <p:sp>
        <p:nvSpPr>
          <p:cNvPr id="7177" name="Rectangle 717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9" name="Rectangle 717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2926592" cy="3639450"/>
          </a:xfrm>
        </p:spPr>
        <p:txBody>
          <a:bodyPr anchor="ctr">
            <a:normAutofit/>
          </a:bodyPr>
          <a:lstStyle/>
          <a:p>
            <a:r>
              <a:rPr lang="pt-BR" sz="1700" dirty="0"/>
              <a:t>Prófase, Metáfase, Anáfase, Telófase</a:t>
            </a:r>
          </a:p>
          <a:p>
            <a:r>
              <a:rPr lang="pt-BR" sz="1700" dirty="0"/>
              <a:t>Divisão celular somática</a:t>
            </a:r>
          </a:p>
        </p:txBody>
      </p:sp>
      <p:sp>
        <p:nvSpPr>
          <p:cNvPr id="7181" name="Rectangle 718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2" name="Picture 4">
            <a:extLst>
              <a:ext uri="{FF2B5EF4-FFF2-40B4-BE49-F238E27FC236}">
                <a16:creationId xmlns:a16="http://schemas.microsoft.com/office/drawing/2014/main" id="{B7A65E50-24C9-DE0B-021D-CE2C9F28A4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1837" y="2334423"/>
            <a:ext cx="4762500" cy="37528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47639E2-7FA6-0830-CB1D-36803B7CD5BB}"/>
              </a:ext>
            </a:extLst>
          </p:cNvPr>
          <p:cNvSpPr txBox="1"/>
          <p:nvPr/>
        </p:nvSpPr>
        <p:spPr>
          <a:xfrm>
            <a:off x="3933188" y="6141897"/>
            <a:ext cx="4499269" cy="371424"/>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https://www.maisbolsas.com.br/enem/biologia/ciclo-celular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pt-BR" sz="4200"/>
              <a:t>Meiose</a:t>
            </a:r>
          </a:p>
        </p:txBody>
      </p:sp>
      <p:sp>
        <p:nvSpPr>
          <p:cNvPr id="8201" name="Rectangle 820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3" name="Rectangle 820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a:bodyPr>
          <a:lstStyle/>
          <a:p>
            <a:r>
              <a:rPr lang="pt-BR" sz="1700"/>
              <a:t>Divisão reducional</a:t>
            </a:r>
          </a:p>
          <a:p>
            <a:r>
              <a:rPr lang="pt-BR" sz="1700"/>
              <a:t>Crossing-over</a:t>
            </a:r>
          </a:p>
          <a:p>
            <a:r>
              <a:rPr lang="pt-BR" sz="1700"/>
              <a:t>Formação de gametas</a:t>
            </a:r>
          </a:p>
        </p:txBody>
      </p:sp>
      <p:pic>
        <p:nvPicPr>
          <p:cNvPr id="8194" name="Picture 2" descr="Meiose: fases, diferenças da mitose, resumo completo">
            <a:extLst>
              <a:ext uri="{FF2B5EF4-FFF2-40B4-BE49-F238E27FC236}">
                <a16:creationId xmlns:a16="http://schemas.microsoft.com/office/drawing/2014/main" id="{1B28EF0F-80B8-803A-701F-58FCF3227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323" r="-1" b="-1"/>
          <a:stretch>
            <a:fillRect/>
          </a:stretch>
        </p:blipFill>
        <p:spPr bwMode="auto">
          <a:xfrm>
            <a:off x="3993419" y="2203080"/>
            <a:ext cx="4438587" cy="4267990"/>
          </a:xfrm>
          <a:prstGeom prst="rect">
            <a:avLst/>
          </a:prstGeom>
          <a:noFill/>
          <a:extLst>
            <a:ext uri="{909E8E84-426E-40DD-AFC4-6F175D3DCCD1}">
              <a14:hiddenFill xmlns:a14="http://schemas.microsoft.com/office/drawing/2010/main">
                <a:solidFill>
                  <a:srgbClr val="FFFFFF"/>
                </a:solidFill>
              </a14:hiddenFill>
            </a:ext>
          </a:extLst>
        </p:spPr>
      </p:pic>
      <p:sp>
        <p:nvSpPr>
          <p:cNvPr id="8205" name="Rectangle 820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41C1EF9-7DEB-42EF-4863-6FBFED653C92}"/>
              </a:ext>
            </a:extLst>
          </p:cNvPr>
          <p:cNvSpPr txBox="1"/>
          <p:nvPr/>
        </p:nvSpPr>
        <p:spPr>
          <a:xfrm>
            <a:off x="2416629" y="6470203"/>
            <a:ext cx="6585857" cy="371424"/>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https://storage.googleapis.com/novo-blog-wordpress/2019/01/esquema-meiose-interno.jpg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EF1691-A2E0-CAE2-53B3-6582E9C28DBF}"/>
              </a:ext>
            </a:extLst>
          </p:cNvPr>
          <p:cNvSpPr>
            <a:spLocks noGrp="1"/>
          </p:cNvSpPr>
          <p:nvPr>
            <p:ph type="title"/>
          </p:nvPr>
        </p:nvSpPr>
        <p:spPr>
          <a:xfrm>
            <a:off x="595246" y="386930"/>
            <a:ext cx="7549592" cy="1298448"/>
          </a:xfrm>
        </p:spPr>
        <p:txBody>
          <a:bodyPr anchor="b">
            <a:normAutofit/>
          </a:bodyPr>
          <a:lstStyle/>
          <a:p>
            <a:r>
              <a:rPr lang="pt-BR" sz="4200"/>
              <a:t>Transcrição</a:t>
            </a:r>
          </a:p>
        </p:txBody>
      </p:sp>
      <p:sp>
        <p:nvSpPr>
          <p:cNvPr id="9227" name="Rectangle 922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9" name="Rectangle 922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2" name="Content Placeholder 9221">
            <a:extLst>
              <a:ext uri="{FF2B5EF4-FFF2-40B4-BE49-F238E27FC236}">
                <a16:creationId xmlns:a16="http://schemas.microsoft.com/office/drawing/2014/main" id="{F5701C1D-688C-9E6B-42A8-AAB62D168EB2}"/>
              </a:ext>
            </a:extLst>
          </p:cNvPr>
          <p:cNvSpPr>
            <a:spLocks noGrp="1"/>
          </p:cNvSpPr>
          <p:nvPr>
            <p:ph idx="1"/>
          </p:nvPr>
        </p:nvSpPr>
        <p:spPr>
          <a:xfrm>
            <a:off x="100622" y="2570186"/>
            <a:ext cx="3120576" cy="3639450"/>
          </a:xfrm>
        </p:spPr>
        <p:txBody>
          <a:bodyPr anchor="ctr">
            <a:normAutofit/>
          </a:bodyPr>
          <a:lstStyle/>
          <a:p>
            <a:pPr algn="just"/>
            <a:r>
              <a:rPr lang="pt-BR" sz="1700" dirty="0"/>
              <a:t>Região promotora reconhecida RNA polimerase II.</a:t>
            </a:r>
          </a:p>
          <a:p>
            <a:pPr algn="just"/>
            <a:r>
              <a:rPr lang="pt-BR" sz="1700" dirty="0"/>
              <a:t>Início da transcrição com abertura do DNA e síntese de RNA.</a:t>
            </a:r>
          </a:p>
          <a:p>
            <a:pPr algn="just"/>
            <a:r>
              <a:rPr lang="pt-BR" sz="1700" dirty="0"/>
              <a:t>Alongamento: RNA polimerase avança, formando RNA no sentido 5’→3’.</a:t>
            </a:r>
            <a:endParaRPr lang="en-US" sz="1700" dirty="0"/>
          </a:p>
        </p:txBody>
      </p:sp>
      <p:sp>
        <p:nvSpPr>
          <p:cNvPr id="9231" name="Rectangle 923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20" name="Picture 4">
            <a:extLst>
              <a:ext uri="{FF2B5EF4-FFF2-40B4-BE49-F238E27FC236}">
                <a16:creationId xmlns:a16="http://schemas.microsoft.com/office/drawing/2014/main" id="{C756FFA5-CBEB-A7B1-1D58-908F47600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0701" y="2570186"/>
            <a:ext cx="5038725" cy="353377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6B87D4A-B014-C66D-8E58-1017B4E66BE2}"/>
              </a:ext>
            </a:extLst>
          </p:cNvPr>
          <p:cNvSpPr txBox="1"/>
          <p:nvPr/>
        </p:nvSpPr>
        <p:spPr>
          <a:xfrm>
            <a:off x="2786743" y="6471069"/>
            <a:ext cx="5804201" cy="370558"/>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https://romeo.if.usp.br/~browngon/03/RNA/rnatranscricao.jpg?v=2st2lc5uq1d5f8j</a:t>
            </a:r>
          </a:p>
        </p:txBody>
      </p:sp>
    </p:spTree>
    <p:extLst>
      <p:ext uri="{BB962C8B-B14F-4D97-AF65-F5344CB8AC3E}">
        <p14:creationId xmlns:p14="http://schemas.microsoft.com/office/powerpoint/2010/main" val="2127682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C2C4D6-EB3E-F658-C865-A2C0371FDE7F}"/>
            </a:ext>
          </a:extLst>
        </p:cNvPr>
        <p:cNvGrpSpPr/>
        <p:nvPr/>
      </p:nvGrpSpPr>
      <p:grpSpPr>
        <a:xfrm>
          <a:off x="0" y="0"/>
          <a:ext cx="0" cy="0"/>
          <a:chOff x="0" y="0"/>
          <a:chExt cx="0" cy="0"/>
        </a:xfrm>
      </p:grpSpPr>
      <p:sp useBgFill="1">
        <p:nvSpPr>
          <p:cNvPr id="10257" name="Rectangle 1025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5052E3-4BD2-9D2E-4935-8A8F640A8978}"/>
              </a:ext>
            </a:extLst>
          </p:cNvPr>
          <p:cNvSpPr>
            <a:spLocks noGrp="1"/>
          </p:cNvSpPr>
          <p:nvPr>
            <p:ph type="title"/>
          </p:nvPr>
        </p:nvSpPr>
        <p:spPr>
          <a:xfrm>
            <a:off x="595246" y="386930"/>
            <a:ext cx="7549592" cy="1298448"/>
          </a:xfrm>
        </p:spPr>
        <p:txBody>
          <a:bodyPr anchor="b">
            <a:normAutofit/>
          </a:bodyPr>
          <a:lstStyle/>
          <a:p>
            <a:r>
              <a:rPr lang="pt-BR" sz="4200"/>
              <a:t>Processamento de RNA</a:t>
            </a:r>
          </a:p>
        </p:txBody>
      </p:sp>
      <p:sp>
        <p:nvSpPr>
          <p:cNvPr id="10258" name="Rectangle 1025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9" name="Rectangle 1025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0" name="Content Placeholder 10245">
            <a:extLst>
              <a:ext uri="{FF2B5EF4-FFF2-40B4-BE49-F238E27FC236}">
                <a16:creationId xmlns:a16="http://schemas.microsoft.com/office/drawing/2014/main" id="{37013148-46B2-E830-B504-ECCDD4F425A7}"/>
              </a:ext>
            </a:extLst>
          </p:cNvPr>
          <p:cNvSpPr>
            <a:spLocks noGrp="1"/>
          </p:cNvSpPr>
          <p:nvPr>
            <p:ph idx="1"/>
          </p:nvPr>
        </p:nvSpPr>
        <p:spPr>
          <a:xfrm>
            <a:off x="40074" y="2599509"/>
            <a:ext cx="2889706" cy="3639450"/>
          </a:xfrm>
        </p:spPr>
        <p:txBody>
          <a:bodyPr anchor="ctr">
            <a:normAutofit/>
          </a:bodyPr>
          <a:lstStyle/>
          <a:p>
            <a:r>
              <a:rPr lang="pt-BR" sz="1700" dirty="0"/>
              <a:t>Adição de cap na extremidade 5’ do RNA.</a:t>
            </a:r>
          </a:p>
          <a:p>
            <a:r>
              <a:rPr lang="pt-BR" sz="1700" dirty="0"/>
              <a:t>Adição de cauda poli-A na extremidade 3’.</a:t>
            </a:r>
          </a:p>
          <a:p>
            <a:r>
              <a:rPr lang="pt-BR" sz="1700" dirty="0"/>
              <a:t>Remoção de íntrons (splicing).</a:t>
            </a:r>
            <a:endParaRPr lang="en-US" sz="1700" dirty="0"/>
          </a:p>
        </p:txBody>
      </p:sp>
      <p:pic>
        <p:nvPicPr>
          <p:cNvPr id="10242" name="Picture 2" descr="Biologia Molecular – NOIC">
            <a:extLst>
              <a:ext uri="{FF2B5EF4-FFF2-40B4-BE49-F238E27FC236}">
                <a16:creationId xmlns:a16="http://schemas.microsoft.com/office/drawing/2014/main" id="{734F0336-73EE-4E62-CF07-EAD8B24239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058887" y="2389218"/>
            <a:ext cx="5402950" cy="3336321"/>
          </a:xfrm>
          <a:prstGeom prst="rect">
            <a:avLst/>
          </a:prstGeom>
          <a:noFill/>
          <a:extLst>
            <a:ext uri="{909E8E84-426E-40DD-AFC4-6F175D3DCCD1}">
              <a14:hiddenFill xmlns:a14="http://schemas.microsoft.com/office/drawing/2010/main">
                <a:solidFill>
                  <a:srgbClr val="FFFFFF"/>
                </a:solidFill>
              </a14:hiddenFill>
            </a:ext>
          </a:extLst>
        </p:spPr>
      </p:pic>
      <p:sp>
        <p:nvSpPr>
          <p:cNvPr id="10261" name="Rectangle 102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EB6CA9-C5CA-EFB3-ADEA-76C3A6078D52}"/>
              </a:ext>
            </a:extLst>
          </p:cNvPr>
          <p:cNvSpPr txBox="1"/>
          <p:nvPr/>
        </p:nvSpPr>
        <p:spPr>
          <a:xfrm>
            <a:off x="2416629" y="6470203"/>
            <a:ext cx="6585857" cy="371424"/>
          </a:xfrm>
          <a:prstGeom prst="rect">
            <a:avLst/>
          </a:prstGeom>
          <a:solidFill>
            <a:srgbClr val="000000">
              <a:alpha val="50000"/>
            </a:srgbClr>
          </a:solidFill>
          <a:ln>
            <a:noFill/>
          </a:ln>
        </p:spPr>
        <p:txBody>
          <a:bodyPr wrap="square">
            <a:noAutofit/>
          </a:bodyPr>
          <a:lstStyle/>
          <a:p>
            <a:pPr algn="ctr">
              <a:spcAft>
                <a:spcPts val="600"/>
              </a:spcAft>
            </a:pPr>
            <a:r>
              <a:rPr lang="pt-BR" sz="1300" dirty="0">
                <a:solidFill>
                  <a:srgbClr val="FFFFFF"/>
                </a:solidFill>
              </a:rPr>
              <a:t>https://i0.wp.com/noic.com.br/wp-content/uploads/2024/05/ProcessamentoRNA.jpg?ssl=1</a:t>
            </a:r>
          </a:p>
        </p:txBody>
      </p:sp>
    </p:spTree>
    <p:extLst>
      <p:ext uri="{BB962C8B-B14F-4D97-AF65-F5344CB8AC3E}">
        <p14:creationId xmlns:p14="http://schemas.microsoft.com/office/powerpoint/2010/main" val="775658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9" name="Rectangle 1230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5B50AB-10CB-82A8-C01F-A4C73CC755C8}"/>
              </a:ext>
            </a:extLst>
          </p:cNvPr>
          <p:cNvSpPr>
            <a:spLocks noGrp="1"/>
          </p:cNvSpPr>
          <p:nvPr>
            <p:ph type="title"/>
          </p:nvPr>
        </p:nvSpPr>
        <p:spPr>
          <a:xfrm>
            <a:off x="835357" y="2960716"/>
            <a:ext cx="3027251" cy="2387600"/>
          </a:xfrm>
        </p:spPr>
        <p:txBody>
          <a:bodyPr vert="horz" lIns="91440" tIns="45720" rIns="91440" bIns="45720" rtlCol="0" anchor="t">
            <a:normAutofit/>
          </a:bodyPr>
          <a:lstStyle/>
          <a:p>
            <a:pPr algn="l" defTabSz="914400">
              <a:lnSpc>
                <a:spcPct val="90000"/>
              </a:lnSpc>
            </a:pPr>
            <a:r>
              <a:rPr lang="en-US" sz="4300" b="1" kern="1200" dirty="0">
                <a:solidFill>
                  <a:schemeClr val="tx1"/>
                </a:solidFill>
                <a:latin typeface="+mj-lt"/>
                <a:ea typeface="+mj-ea"/>
                <a:cs typeface="+mj-cs"/>
              </a:rPr>
              <a:t>OBRIGADA!</a:t>
            </a:r>
          </a:p>
        </p:txBody>
      </p:sp>
      <p:grpSp>
        <p:nvGrpSpPr>
          <p:cNvPr id="12311" name="Group 123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984992"/>
            <a:ext cx="548639" cy="673460"/>
            <a:chOff x="3940602" y="308034"/>
            <a:chExt cx="2116791" cy="3428999"/>
          </a:xfrm>
          <a:solidFill>
            <a:schemeClr val="accent4"/>
          </a:solidFill>
        </p:grpSpPr>
        <p:sp>
          <p:nvSpPr>
            <p:cNvPr id="12312" name="Rectangle 123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3" name="Rectangle 123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4" name="Rectangle 123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16" name="Rectangle 123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8" name="Rectangle 123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391886"/>
            <a:ext cx="4507025"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D19A0DF-09AD-CDB0-5032-4F516790863F}"/>
              </a:ext>
            </a:extLst>
          </p:cNvPr>
          <p:cNvPicPr>
            <a:picLocks noChangeAspect="1"/>
          </p:cNvPicPr>
          <p:nvPr/>
        </p:nvPicPr>
        <p:blipFill>
          <a:blip r:embed="rId2"/>
          <a:srcRect l="159" r="339"/>
          <a:stretch>
            <a:fillRect/>
          </a:stretch>
        </p:blipFill>
        <p:spPr>
          <a:xfrm>
            <a:off x="4695948" y="666728"/>
            <a:ext cx="3643842" cy="5465791"/>
          </a:xfrm>
          <a:prstGeom prst="rect">
            <a:avLst/>
          </a:prstGeom>
        </p:spPr>
      </p:pic>
      <p:sp>
        <p:nvSpPr>
          <p:cNvPr id="6" name="Rectangle 3">
            <a:extLst>
              <a:ext uri="{FF2B5EF4-FFF2-40B4-BE49-F238E27FC236}">
                <a16:creationId xmlns:a16="http://schemas.microsoft.com/office/drawing/2014/main" id="{F2EDC5B5-E0D7-A360-0FA1-18752E14B364}"/>
              </a:ext>
            </a:extLst>
          </p:cNvPr>
          <p:cNvSpPr>
            <a:spLocks noChangeArrowheads="1"/>
          </p:cNvSpPr>
          <p:nvPr/>
        </p:nvSpPr>
        <p:spPr bwMode="auto">
          <a:xfrm>
            <a:off x="73443" y="608998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000" b="0" i="0" u="none" strike="noStrike" cap="none" normalizeH="0" baseline="0">
                <a:ln>
                  <a:noFill/>
                </a:ln>
                <a:solidFill>
                  <a:schemeClr val="tx1"/>
                </a:solidFill>
                <a:effectLst/>
                <a:latin typeface="Segoe UI" panose="020B0502040204020203" pitchFamily="34" charset="0"/>
                <a:cs typeface="Segoe UI" panose="020B0502040204020203" pitchFamily="34" charset="0"/>
              </a:rPr>
              <a:t>Esta apresentação foi elaborada com o apoio de inteligência artificial.</a:t>
            </a:r>
            <a:endParaRPr kumimoji="0" lang="pt-BR" altLang="pt-B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5243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337</Words>
  <Application>Microsoft Office PowerPoint</Application>
  <PresentationFormat>On-screen Show (4:3)</PresentationFormat>
  <Paragraphs>55</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Segoe UI</vt:lpstr>
      <vt:lpstr>Office Theme</vt:lpstr>
      <vt:lpstr>Núcleo e nucléolo</vt:lpstr>
      <vt:lpstr>Objetivos de aprendizagem</vt:lpstr>
      <vt:lpstr>Núcleo Celular</vt:lpstr>
      <vt:lpstr>Envoltório Nuclear</vt:lpstr>
      <vt:lpstr>Transporte Nuclear</vt:lpstr>
      <vt:lpstr>Cromatina</vt:lpstr>
      <vt:lpstr>Nucléolo</vt:lpstr>
      <vt:lpstr>Ciclo Celular</vt:lpstr>
      <vt:lpstr>Mitose</vt:lpstr>
      <vt:lpstr>Meiose</vt:lpstr>
      <vt:lpstr>Transcrição</vt:lpstr>
      <vt:lpstr>Processamento de RNA</vt:lpstr>
      <vt:lpstr>OBRIGADA!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yohanny</dc:creator>
  <cp:keywords/>
  <dc:description>generated using python-pptx</dc:description>
  <cp:lastModifiedBy>Lucas Barros</cp:lastModifiedBy>
  <cp:revision>3</cp:revision>
  <dcterms:created xsi:type="dcterms:W3CDTF">2013-01-27T09:14:16Z</dcterms:created>
  <dcterms:modified xsi:type="dcterms:W3CDTF">2025-12-31T15:47:29Z</dcterms:modified>
  <cp:category/>
</cp:coreProperties>
</file>